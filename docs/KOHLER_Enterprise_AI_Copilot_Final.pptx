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315200" y="1051560"/>
            <a:ext cx="0" cy="502920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818120" y="1051560"/>
            <a:ext cx="0" cy="502920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321040" y="1051560"/>
            <a:ext cx="0" cy="502920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23960" y="1051560"/>
            <a:ext cx="0" cy="502920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0" y="1051560"/>
            <a:ext cx="0" cy="502920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29800" y="1051560"/>
            <a:ext cx="0" cy="502920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332720" y="1051560"/>
            <a:ext cx="0" cy="502920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35640" y="1051560"/>
            <a:ext cx="0" cy="502920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338560" y="1051560"/>
            <a:ext cx="0" cy="502920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41480" y="1051560"/>
            <a:ext cx="0" cy="502920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1051560"/>
            <a:ext cx="4572000" cy="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15200" y="1645919"/>
            <a:ext cx="4572000" cy="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2240280"/>
            <a:ext cx="4572000" cy="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2834640"/>
            <a:ext cx="4572000" cy="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3429000"/>
            <a:ext cx="4572000" cy="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4023360"/>
            <a:ext cx="4572000" cy="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15200" y="4617720"/>
            <a:ext cx="4572000" cy="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0" y="5212079"/>
            <a:ext cx="4572000" cy="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200" y="5806440"/>
            <a:ext cx="4572000" cy="0"/>
          </a:xfrm>
          <a:prstGeom prst="line">
            <a:avLst/>
          </a:prstGeom>
          <a:ln w="6350">
            <a:solidFill>
              <a:srgbClr val="1F2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B5F"/>
                </a:solidFill>
                <a:latin typeface="Aptos"/>
              </a:rPr>
              <a:t>KOHLER  /  AI RESEARCH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234440"/>
            <a:ext cx="5852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Enterprise AI
Copilot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788920"/>
            <a:ext cx="5989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0">
                <a:solidFill>
                  <a:srgbClr val="D2DADE"/>
                </a:solidFill>
                <a:latin typeface="Aptos"/>
              </a:rPr>
              <a:t>A role-aware agent that retrieves only authorized evidence,
grounds every enterprise answer, and converts it into action-ready outputs.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069080"/>
            <a:ext cx="1600200" cy="384048"/>
          </a:xfrm>
          <a:prstGeom prst="roundRect">
            <a:avLst/>
          </a:prstGeom>
          <a:solidFill>
            <a:srgbClr val="222A2F"/>
          </a:solidFill>
          <a:ln w="12700">
            <a:solidFill>
              <a:srgbClr val="3A4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51376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07B5F"/>
                </a:solidFill>
                <a:latin typeface="Aptos"/>
              </a:rPr>
              <a:t>ROLE-AWARE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50008" y="4069080"/>
            <a:ext cx="1600200" cy="384048"/>
          </a:xfrm>
          <a:prstGeom prst="roundRect">
            <a:avLst/>
          </a:prstGeom>
          <a:solidFill>
            <a:srgbClr val="222A2F"/>
          </a:solidFill>
          <a:ln w="12700">
            <a:solidFill>
              <a:srgbClr val="3A4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50008" y="4151376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3F70A0"/>
                </a:solidFill>
                <a:latin typeface="Aptos"/>
              </a:rPr>
              <a:t>GROUNDED RAG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05656" y="4069080"/>
            <a:ext cx="1965960" cy="384048"/>
          </a:xfrm>
          <a:prstGeom prst="roundRect">
            <a:avLst/>
          </a:prstGeom>
          <a:solidFill>
            <a:srgbClr val="222A2F"/>
          </a:solidFill>
          <a:ln w="12700">
            <a:solidFill>
              <a:srgbClr val="3A4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05656" y="4151376"/>
            <a:ext cx="1965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D39125"/>
                </a:solidFill>
                <a:latin typeface="Aptos"/>
              </a:rPr>
              <a:t>STRUCTURED 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06221" y="843313"/>
            <a:ext cx="4915637" cy="5237447"/>
          </a:xfrm>
          <a:prstGeom prst="roundRect">
            <a:avLst/>
          </a:prstGeom>
          <a:solidFill>
            <a:srgbClr val="FAFBFB"/>
          </a:solidFill>
          <a:ln w="12700">
            <a:solidFill>
              <a:srgbClr val="FA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186889" y="1158732"/>
            <a:ext cx="4572000" cy="384048"/>
          </a:xfrm>
          <a:prstGeom prst="roundRect">
            <a:avLst/>
          </a:prstGeom>
          <a:solidFill>
            <a:srgbClr val="E8EBEC"/>
          </a:solidFill>
          <a:ln w="12700">
            <a:solidFill>
              <a:srgbClr val="E8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7886700" y="1239011"/>
            <a:ext cx="3383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dirty="0">
                <a:solidFill>
                  <a:srgbClr val="677076"/>
                </a:solidFill>
                <a:latin typeface="Aptos"/>
              </a:rPr>
              <a:t>localhost  /  KOHLER Enterprise AI Copilot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33488" y="1570212"/>
            <a:ext cx="1143000" cy="4176742"/>
          </a:xfrm>
          <a:prstGeom prst="rect">
            <a:avLst/>
          </a:prstGeom>
          <a:solidFill>
            <a:srgbClr val="F1F4F4"/>
          </a:solidFill>
          <a:ln w="12700">
            <a:solidFill>
              <a:srgbClr val="F1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7443216" y="1645920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77076"/>
                </a:solidFill>
                <a:latin typeface="Aptos"/>
              </a:rPr>
              <a:t>ACCESS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24927" y="1901952"/>
            <a:ext cx="896112" cy="329184"/>
          </a:xfrm>
          <a:prstGeom prst="roundRect">
            <a:avLst/>
          </a:prstGeom>
          <a:solidFill>
            <a:srgbClr val="E0F3ED"/>
          </a:solidFill>
          <a:ln w="12700">
            <a:solidFill>
              <a:srgbClr val="E0F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52360" y="1984248"/>
            <a:ext cx="8229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7B5F"/>
                </a:solidFill>
                <a:latin typeface="Aptos"/>
              </a:rPr>
              <a:t>Employee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3216" y="2487168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77076"/>
                </a:solidFill>
                <a:latin typeface="Aptos"/>
              </a:rP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59" y="2782283"/>
            <a:ext cx="7772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dirty="0">
                <a:solidFill>
                  <a:srgbClr val="1C2226"/>
                </a:solidFill>
                <a:latin typeface="Aptos"/>
              </a:rPr>
              <a:t>Natural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792" y="3072384"/>
            <a:ext cx="7772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1C2226"/>
                </a:solidFill>
                <a:latin typeface="Aptos"/>
              </a:rPr>
              <a:t>JSON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9792" y="3383280"/>
            <a:ext cx="7772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1C2226"/>
                </a:solidFill>
                <a:latin typeface="Aptos"/>
              </a:rPr>
              <a:t>Excel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9792" y="3694176"/>
            <a:ext cx="7772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1C2226"/>
                </a:solidFill>
                <a:latin typeface="Aptos"/>
              </a:rPr>
              <a:t>XML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3216" y="4206240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77076"/>
                </a:solidFill>
                <a:latin typeface="Aptos"/>
              </a:rPr>
              <a:t>ROLE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3216" y="4480560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7B5F"/>
                </a:solidFill>
                <a:latin typeface="Aptos"/>
              </a:rPr>
              <a:t>RBAC active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1664208"/>
            <a:ext cx="2606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1C2226"/>
                </a:solidFill>
                <a:latin typeface="Aptos"/>
              </a:rPr>
              <a:t>KOHLER Enterprise AI Copilot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193852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dirty="0">
                <a:solidFill>
                  <a:srgbClr val="677076"/>
                </a:solidFill>
                <a:latin typeface="Aptos"/>
              </a:rPr>
              <a:t>Employee  •  Grounded assistant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95360" y="2304288"/>
            <a:ext cx="2788920" cy="713232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796528" y="246888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226"/>
                </a:solidFill>
                <a:latin typeface="Aptos"/>
              </a:rPr>
              <a:t>What is the hotel
reimbursement limit?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95360" y="3200400"/>
            <a:ext cx="2788920" cy="1280160"/>
          </a:xfrm>
          <a:prstGeom prst="roundRect">
            <a:avLst/>
          </a:prstGeom>
          <a:solidFill>
            <a:srgbClr val="EFF9F6"/>
          </a:solidFill>
          <a:ln w="12700">
            <a:solidFill>
              <a:srgbClr val="EF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796528" y="3383280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226"/>
                </a:solidFill>
                <a:latin typeface="Aptos"/>
              </a:rPr>
              <a:t>Domestic Tier-1: $275/night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96528" y="3685032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007B5F"/>
                </a:solidFill>
                <a:latin typeface="Aptos"/>
              </a:rPr>
              <a:t>Source: POL-FIN-2026-042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96528" y="3931920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77076"/>
                </a:solidFill>
                <a:latin typeface="Aptos"/>
              </a:rPr>
              <a:t>Section: Hotel Accommodation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627278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7B5F"/>
                </a:solidFill>
                <a:latin typeface="Aptos"/>
              </a:rPr>
              <a:t>PROTOTYPE UI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05472" y="6291072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B4BEC2"/>
                </a:solidFill>
                <a:latin typeface="Aptos"/>
              </a:rPr>
              <a:t>Role → Retrieve → Ground → Export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73968" y="644652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69DA3"/>
                </a:solidFill>
                <a:latin typeface="Aptos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743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7B5F"/>
                </a:solidFill>
                <a:latin typeface="Aptos"/>
              </a:rPr>
              <a:t>01  | 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0698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C2226"/>
                </a:solidFill>
                <a:latin typeface="Aptos"/>
              </a:rPr>
              <a:t>A secure agentic pipeline — with the control point before the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644652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77076"/>
                </a:solidFill>
                <a:latin typeface="Aptos"/>
              </a:rPr>
              <a:t>2/4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53312"/>
            <a:ext cx="2084831" cy="768096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1499616"/>
            <a:ext cx="7772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3F70A0"/>
                </a:solidFill>
                <a:latin typeface="Aptos"/>
              </a:rPr>
              <a:t>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55648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C2226"/>
                </a:solidFill>
                <a:latin typeface="Aptos"/>
              </a:rPr>
              <a:t>Leave • WFH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53312"/>
            <a:ext cx="2084831" cy="768096"/>
          </a:xfrm>
          <a:prstGeom prst="roundRect">
            <a:avLst/>
          </a:prstGeom>
          <a:solidFill>
            <a:srgbClr val="FBF4E4"/>
          </a:solidFill>
          <a:ln w="12700">
            <a:solidFill>
              <a:srgbClr val="FBF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368" y="1499616"/>
            <a:ext cx="7772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39125"/>
                </a:solidFill>
                <a:latin typeface="Aptos"/>
              </a:rPr>
              <a:t>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1755648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C2226"/>
                </a:solidFill>
                <a:latin typeface="Aptos"/>
              </a:rPr>
              <a:t>Travel • Meals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1353312"/>
            <a:ext cx="2084831" cy="768096"/>
          </a:xfrm>
          <a:prstGeom prst="roundRect">
            <a:avLst/>
          </a:prstGeom>
          <a:solidFill>
            <a:srgbClr val="FAECEC"/>
          </a:solidFill>
          <a:ln w="12700">
            <a:solidFill>
              <a:srgbClr val="FA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1499616"/>
            <a:ext cx="10972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B03E3E"/>
                </a:solidFill>
                <a:latin typeface="Aptos"/>
              </a:rPr>
              <a:t>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755648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C2226"/>
                </a:solidFill>
                <a:latin typeface="Aptos"/>
              </a:rPr>
              <a:t>Security •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0064" y="1353312"/>
            <a:ext cx="2084831" cy="768096"/>
          </a:xfrm>
          <a:prstGeom prst="roundRect">
            <a:avLst/>
          </a:prstGeom>
          <a:solidFill>
            <a:srgbClr val="EFF9F6"/>
          </a:solidFill>
          <a:ln w="12700">
            <a:solidFill>
              <a:srgbClr val="EF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79792" y="1499616"/>
            <a:ext cx="7772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007B5F"/>
                </a:solidFill>
                <a:latin typeface="Aptos"/>
              </a:rPr>
              <a:t>PUBLIC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1755648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C2226"/>
                </a:solidFill>
                <a:latin typeface="Aptos"/>
              </a:rPr>
              <a:t>Privacy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7776" y="1353312"/>
            <a:ext cx="2084831" cy="768096"/>
          </a:xfrm>
          <a:prstGeom prst="roundRect">
            <a:avLst/>
          </a:prstGeom>
          <a:solidFill>
            <a:srgbClr val="EEF1F8"/>
          </a:solidFill>
          <a:ln w="12700">
            <a:solidFill>
              <a:srgbClr val="EE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47504" y="1499616"/>
            <a:ext cx="1069848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3F70A0"/>
                </a:solidFill>
                <a:latin typeface="Aptos"/>
              </a:rPr>
              <a:t>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755648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C2226"/>
                </a:solidFill>
                <a:latin typeface="Aptos"/>
              </a:rPr>
              <a:t>Support • Warranty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788920"/>
            <a:ext cx="1920240" cy="1298448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F6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4944" y="2944368"/>
            <a:ext cx="292608" cy="292608"/>
          </a:xfrm>
          <a:prstGeom prst="ellipse">
            <a:avLst/>
          </a:prstGeom>
          <a:solidFill>
            <a:srgbClr val="677076"/>
          </a:solidFill>
          <a:ln>
            <a:solidFill>
              <a:srgbClr val="677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999232"/>
            <a:ext cx="29260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" y="2985516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677076"/>
                </a:solidFill>
                <a:latin typeface="Aptos"/>
              </a:rPr>
              <a:t>USER 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33756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1C2226"/>
                </a:solidFill>
                <a:latin typeface="Aptos"/>
              </a:rPr>
              <a:t>Question + active role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05456" y="3438144"/>
            <a:ext cx="292608" cy="0"/>
          </a:xfrm>
          <a:prstGeom prst="line">
            <a:avLst/>
          </a:prstGeom>
          <a:ln w="22860">
            <a:solidFill>
              <a:srgbClr val="007B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2761488" y="3374136"/>
            <a:ext cx="128016" cy="128016"/>
          </a:xfrm>
          <a:prstGeom prst="triangle">
            <a:avLst/>
          </a:prstGeom>
          <a:solidFill>
            <a:srgbClr val="007B5F"/>
          </a:solidFill>
          <a:ln>
            <a:solidFill>
              <a:srgbClr val="007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852928" y="2788920"/>
            <a:ext cx="1920240" cy="1298448"/>
          </a:xfrm>
          <a:prstGeom prst="roundRect">
            <a:avLst/>
          </a:prstGeom>
          <a:solidFill>
            <a:srgbClr val="FBF4E4"/>
          </a:solidFill>
          <a:ln w="12700">
            <a:solidFill>
              <a:srgbClr val="FBF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980944" y="2944368"/>
            <a:ext cx="292608" cy="292608"/>
          </a:xfrm>
          <a:prstGeom prst="ellipse">
            <a:avLst/>
          </a:prstGeom>
          <a:solidFill>
            <a:srgbClr val="D39125"/>
          </a:solidFill>
          <a:ln>
            <a:solidFill>
              <a:srgbClr val="D391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80944" y="2999232"/>
            <a:ext cx="29260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2424" y="2976372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 dirty="0">
                <a:solidFill>
                  <a:srgbClr val="D39125"/>
                </a:solidFill>
                <a:latin typeface="Aptos"/>
              </a:rPr>
              <a:t>SECURITY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80944" y="333756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C2226"/>
                </a:solidFill>
                <a:latin typeface="Aptos"/>
              </a:rPr>
              <a:t>Injection / ambiguity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91456" y="3438144"/>
            <a:ext cx="292608" cy="0"/>
          </a:xfrm>
          <a:prstGeom prst="line">
            <a:avLst/>
          </a:prstGeom>
          <a:ln w="22860">
            <a:solidFill>
              <a:srgbClr val="007B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5047488" y="3374136"/>
            <a:ext cx="128016" cy="128016"/>
          </a:xfrm>
          <a:prstGeom prst="triangle">
            <a:avLst/>
          </a:prstGeom>
          <a:solidFill>
            <a:srgbClr val="007B5F"/>
          </a:solidFill>
          <a:ln>
            <a:solidFill>
              <a:srgbClr val="007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2788920"/>
            <a:ext cx="1920240" cy="1298448"/>
          </a:xfrm>
          <a:prstGeom prst="roundRect">
            <a:avLst/>
          </a:prstGeom>
          <a:solidFill>
            <a:srgbClr val="E0F3ED"/>
          </a:solidFill>
          <a:ln w="12700">
            <a:solidFill>
              <a:srgbClr val="E0F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266944" y="2944368"/>
            <a:ext cx="292608" cy="292608"/>
          </a:xfrm>
          <a:prstGeom prst="ellipse">
            <a:avLst/>
          </a:prstGeom>
          <a:solidFill>
            <a:srgbClr val="007B5F"/>
          </a:solidFill>
          <a:ln>
            <a:solidFill>
              <a:srgbClr val="007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66944" y="2999232"/>
            <a:ext cx="29260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2985516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 dirty="0">
                <a:solidFill>
                  <a:srgbClr val="007B5F"/>
                </a:solidFill>
                <a:latin typeface="Aptos"/>
              </a:rPr>
              <a:t>AUTHORIZED RAG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66944" y="333756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C2226"/>
                </a:solidFill>
                <a:latin typeface="Aptos"/>
              </a:rPr>
              <a:t>Role-filtered evidence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077456" y="3438144"/>
            <a:ext cx="292607" cy="0"/>
          </a:xfrm>
          <a:prstGeom prst="line">
            <a:avLst/>
          </a:prstGeom>
          <a:ln w="22860">
            <a:solidFill>
              <a:srgbClr val="007B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7333488" y="3374136"/>
            <a:ext cx="128016" cy="128016"/>
          </a:xfrm>
          <a:prstGeom prst="triangle">
            <a:avLst/>
          </a:prstGeom>
          <a:solidFill>
            <a:srgbClr val="007B5F"/>
          </a:solidFill>
          <a:ln>
            <a:solidFill>
              <a:srgbClr val="007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424927" y="2788920"/>
            <a:ext cx="1920240" cy="1298448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552944" y="2944368"/>
            <a:ext cx="292608" cy="292608"/>
          </a:xfrm>
          <a:prstGeom prst="ellipse">
            <a:avLst/>
          </a:prstGeom>
          <a:solidFill>
            <a:srgbClr val="3F70A0"/>
          </a:solidFill>
          <a:ln>
            <a:solidFill>
              <a:srgbClr val="3F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52944" y="2999232"/>
            <a:ext cx="29260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2965999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 dirty="0">
                <a:solidFill>
                  <a:srgbClr val="3F70A0"/>
                </a:solidFill>
                <a:latin typeface="Aptos"/>
              </a:rPr>
              <a:t>LLM REASONING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52944" y="333756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C2226"/>
                </a:solidFill>
                <a:latin typeface="Aptos"/>
              </a:rPr>
              <a:t>Grounded response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363455" y="3438144"/>
            <a:ext cx="292608" cy="0"/>
          </a:xfrm>
          <a:prstGeom prst="line">
            <a:avLst/>
          </a:prstGeom>
          <a:ln w="22860">
            <a:solidFill>
              <a:srgbClr val="007B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9619488" y="3374136"/>
            <a:ext cx="128016" cy="128016"/>
          </a:xfrm>
          <a:prstGeom prst="triangle">
            <a:avLst/>
          </a:prstGeom>
          <a:solidFill>
            <a:srgbClr val="007B5F"/>
          </a:solidFill>
          <a:ln>
            <a:solidFill>
              <a:srgbClr val="007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710928" y="2788920"/>
            <a:ext cx="1920240" cy="1298448"/>
          </a:xfrm>
          <a:prstGeom prst="roundRect">
            <a:avLst/>
          </a:prstGeom>
          <a:solidFill>
            <a:srgbClr val="EFF9F6"/>
          </a:solidFill>
          <a:ln w="12700">
            <a:solidFill>
              <a:srgbClr val="EF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838944" y="2944368"/>
            <a:ext cx="292608" cy="292608"/>
          </a:xfrm>
          <a:prstGeom prst="ellipse">
            <a:avLst/>
          </a:prstGeom>
          <a:solidFill>
            <a:srgbClr val="007B5F"/>
          </a:solidFill>
          <a:ln>
            <a:solidFill>
              <a:srgbClr val="007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838944" y="2999232"/>
            <a:ext cx="29260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22992" y="2969932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 dirty="0">
                <a:solidFill>
                  <a:srgbClr val="007B5F"/>
                </a:solidFill>
                <a:latin typeface="Aptos"/>
              </a:rPr>
              <a:t>VERIFY + EXPORT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38944" y="333756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C2226"/>
                </a:solidFill>
                <a:latin typeface="Aptos"/>
              </a:rPr>
              <a:t>Provenance + format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4526280"/>
            <a:ext cx="5257800" cy="1261872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F6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4672" y="4736592"/>
            <a:ext cx="15087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677076"/>
                </a:solidFill>
                <a:latin typeface="Aptos"/>
              </a:rPr>
              <a:t>ACCESS CONTROL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" y="507492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C2226"/>
                </a:solidFill>
                <a:latin typeface="Aptos"/>
              </a:rPr>
              <a:t>Employee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65960" y="5074920"/>
            <a:ext cx="1097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007B5F"/>
                </a:solidFill>
                <a:latin typeface="Aptos"/>
              </a:rPr>
              <a:t>EMPLOYEE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36392" y="5065776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77076"/>
                </a:solidFill>
                <a:latin typeface="Aptos"/>
              </a:rPr>
              <a:t>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56432" y="5074920"/>
            <a:ext cx="914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07B5F"/>
                </a:solidFill>
                <a:latin typeface="Aptos"/>
              </a:rPr>
              <a:t>PUBLIC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" y="5413248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226"/>
                </a:solidFill>
                <a:latin typeface="Aptos"/>
              </a:rPr>
              <a:t>Customer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65960" y="5413248"/>
            <a:ext cx="1097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3F70A0"/>
                </a:solidFill>
                <a:latin typeface="Aptos"/>
              </a:rPr>
              <a:t>CUSTOMER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36392" y="5404104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77076"/>
                </a:solidFill>
                <a:latin typeface="Aptos"/>
              </a:rPr>
              <a:t>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56432" y="5413248"/>
            <a:ext cx="914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007B5F"/>
                </a:solidFill>
                <a:latin typeface="Aptos"/>
              </a:rPr>
              <a:t>PUBLIC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53328" y="4526280"/>
            <a:ext cx="5532120" cy="1261872"/>
          </a:xfrm>
          <a:prstGeom prst="roundRect">
            <a:avLst/>
          </a:prstGeom>
          <a:solidFill>
            <a:srgbClr val="EFF9F6"/>
          </a:solidFill>
          <a:ln w="12700">
            <a:solidFill>
              <a:srgbClr val="EF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09360" y="4736592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007B5F"/>
                </a:solidFill>
                <a:latin typeface="Aptos"/>
              </a:rPr>
              <a:t>IMPLEMENTATION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5084064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 err="1">
                <a:solidFill>
                  <a:srgbClr val="1C2226"/>
                </a:solidFill>
                <a:latin typeface="Aptos"/>
              </a:rPr>
              <a:t>Streamlit</a:t>
            </a:r>
            <a:endParaRPr sz="1000" b="1" dirty="0">
              <a:solidFill>
                <a:srgbClr val="1C2226"/>
              </a:solidFill>
              <a:latin typeface="Apto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360920" y="5084064"/>
            <a:ext cx="1627632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C2226"/>
                </a:solidFill>
                <a:latin typeface="Aptos"/>
              </a:rPr>
              <a:t>Sentence Transformers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5084064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 err="1">
                <a:solidFill>
                  <a:srgbClr val="1C2226"/>
                </a:solidFill>
                <a:latin typeface="Aptos"/>
              </a:rPr>
              <a:t>ChromaDB</a:t>
            </a:r>
            <a:endParaRPr sz="1000" b="1" dirty="0">
              <a:solidFill>
                <a:srgbClr val="1C2226"/>
              </a:solidFill>
              <a:latin typeface="Apto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040112" y="5084064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226"/>
                </a:solidFill>
                <a:latin typeface="Aptos"/>
              </a:rPr>
              <a:t>Gemini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0" y="5431536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C2226"/>
                </a:solidFill>
                <a:latin typeface="Aptos"/>
              </a:rPr>
              <a:t>Python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0920" y="5431536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C2226"/>
                </a:solidFill>
                <a:latin typeface="Aptos"/>
              </a:rPr>
              <a:t>CSV audit log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5431536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C2226"/>
                </a:solidFill>
                <a:latin typeface="Aptos"/>
              </a:rPr>
              <a:t>Excel / XML / Email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743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7B5F"/>
                </a:solidFill>
                <a:latin typeface="Aptos"/>
              </a:rPr>
              <a:t>02  |  INTELLIGENCE &amp;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0698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The agent does more than answer: it decides what it is allowed to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644652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4BEC2"/>
                </a:solidFill>
                <a:latin typeface="Aptos"/>
              </a:rPr>
              <a:t>3/4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5623560" cy="4526280"/>
          </a:xfrm>
          <a:prstGeom prst="roundRect">
            <a:avLst/>
          </a:prstGeom>
          <a:solidFill>
            <a:srgbClr val="1C2328"/>
          </a:solidFill>
          <a:ln w="12700">
            <a:solidFill>
              <a:srgbClr val="34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682496"/>
            <a:ext cx="2112264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7B5F"/>
                </a:solidFill>
                <a:latin typeface="Aptos"/>
              </a:rPr>
              <a:t>AGENT DECISION LOOP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2331720"/>
            <a:ext cx="1005840" cy="1005840"/>
          </a:xfrm>
          <a:prstGeom prst="ellipse">
            <a:avLst/>
          </a:prstGeom>
          <a:solidFill>
            <a:srgbClr val="007B5F"/>
          </a:solidFill>
          <a:ln>
            <a:solidFill>
              <a:srgbClr val="007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1601" y="2720340"/>
            <a:ext cx="1097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410711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B8C2C6"/>
                </a:solidFill>
                <a:latin typeface="Aptos"/>
              </a:rPr>
              <a:t>Intent + context</a:t>
            </a:r>
          </a:p>
        </p:txBody>
      </p:sp>
      <p:sp>
        <p:nvSpPr>
          <p:cNvPr id="10" name="Oval 9"/>
          <p:cNvSpPr/>
          <p:nvPr/>
        </p:nvSpPr>
        <p:spPr>
          <a:xfrm>
            <a:off x="2880360" y="2331720"/>
            <a:ext cx="1005840" cy="1005840"/>
          </a:xfrm>
          <a:prstGeom prst="ellipse">
            <a:avLst/>
          </a:prstGeom>
          <a:solidFill>
            <a:srgbClr val="007B5F"/>
          </a:solidFill>
          <a:ln>
            <a:solidFill>
              <a:srgbClr val="007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42407" y="2725108"/>
            <a:ext cx="1097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AUTHORIZE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410711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B8C2C6"/>
                </a:solidFill>
                <a:latin typeface="Aptos"/>
              </a:rPr>
              <a:t>Role filter</a:t>
            </a:r>
          </a:p>
        </p:txBody>
      </p:sp>
      <p:sp>
        <p:nvSpPr>
          <p:cNvPr id="13" name="Oval 12"/>
          <p:cNvSpPr/>
          <p:nvPr/>
        </p:nvSpPr>
        <p:spPr>
          <a:xfrm>
            <a:off x="4828032" y="2331720"/>
            <a:ext cx="1005840" cy="1005840"/>
          </a:xfrm>
          <a:prstGeom prst="ellipse">
            <a:avLst/>
          </a:prstGeom>
          <a:solidFill>
            <a:srgbClr val="007B5F"/>
          </a:solidFill>
          <a:ln>
            <a:solidFill>
              <a:srgbClr val="007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82312" y="2731745"/>
            <a:ext cx="1097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410711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B8C2C6"/>
                </a:solidFill>
                <a:latin typeface="Aptos"/>
              </a:rPr>
              <a:t>Evidence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1901952" y="3977639"/>
            <a:ext cx="1005840" cy="1005840"/>
          </a:xfrm>
          <a:prstGeom prst="ellipse">
            <a:avLst/>
          </a:prstGeom>
          <a:solidFill>
            <a:srgbClr val="007B5F"/>
          </a:solidFill>
          <a:ln>
            <a:solidFill>
              <a:srgbClr val="007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56232" y="4394871"/>
            <a:ext cx="1097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5056631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B8C2C6"/>
                </a:solidFill>
                <a:latin typeface="Aptos"/>
              </a:rPr>
              <a:t>Grounding</a:t>
            </a:r>
          </a:p>
        </p:txBody>
      </p:sp>
      <p:sp>
        <p:nvSpPr>
          <p:cNvPr id="19" name="Oval 18"/>
          <p:cNvSpPr/>
          <p:nvPr/>
        </p:nvSpPr>
        <p:spPr>
          <a:xfrm>
            <a:off x="3858768" y="3977639"/>
            <a:ext cx="1005840" cy="1005840"/>
          </a:xfrm>
          <a:prstGeom prst="ellipse">
            <a:avLst/>
          </a:prstGeom>
          <a:solidFill>
            <a:srgbClr val="007B5F"/>
          </a:solidFill>
          <a:ln>
            <a:solidFill>
              <a:srgbClr val="007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23569" y="4404949"/>
            <a:ext cx="1097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RESPOND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5056631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B8C2C6"/>
                </a:solidFill>
                <a:latin typeface="Aptos"/>
              </a:rPr>
              <a:t>Answer + source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47672" y="2816352"/>
            <a:ext cx="932688" cy="0"/>
          </a:xfrm>
          <a:prstGeom prst="line">
            <a:avLst/>
          </a:prstGeom>
          <a:ln w="21590">
            <a:solidFill>
              <a:srgbClr val="007B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86200" y="2816352"/>
            <a:ext cx="941832" cy="0"/>
          </a:xfrm>
          <a:prstGeom prst="line">
            <a:avLst/>
          </a:prstGeom>
          <a:ln w="21590">
            <a:solidFill>
              <a:srgbClr val="007B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434840" y="3310128"/>
            <a:ext cx="822960" cy="667511"/>
          </a:xfrm>
          <a:prstGeom prst="line">
            <a:avLst/>
          </a:prstGeom>
          <a:ln w="21590">
            <a:solidFill>
              <a:srgbClr val="007B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907792" y="4480560"/>
            <a:ext cx="950976" cy="0"/>
          </a:xfrm>
          <a:prstGeom prst="line">
            <a:avLst/>
          </a:prstGeom>
          <a:ln w="21590">
            <a:solidFill>
              <a:srgbClr val="007B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600200" y="3337560"/>
            <a:ext cx="804672" cy="640079"/>
          </a:xfrm>
          <a:prstGeom prst="line">
            <a:avLst/>
          </a:prstGeom>
          <a:ln w="21590">
            <a:solidFill>
              <a:srgbClr val="007B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60120" y="5486400"/>
            <a:ext cx="4800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If evidence is insufficient → refuse rather than invent.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1417320"/>
            <a:ext cx="5120640" cy="1993392"/>
          </a:xfrm>
          <a:prstGeom prst="roundRect">
            <a:avLst/>
          </a:prstGeom>
          <a:solidFill>
            <a:srgbClr val="1C2328"/>
          </a:solidFill>
          <a:ln w="12700">
            <a:solidFill>
              <a:srgbClr val="34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0840" y="1682496"/>
            <a:ext cx="1554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7B5F"/>
                </a:solidFill>
                <a:latin typeface="Aptos"/>
              </a:rPr>
              <a:t>SECURITY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029968"/>
            <a:ext cx="7498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007B5F"/>
                </a:solidFill>
                <a:latin typeface="Aptos"/>
              </a:rPr>
              <a:t>RBAC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2011680"/>
            <a:ext cx="3611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 dirty="0">
                <a:solidFill>
                  <a:srgbClr val="FFFFFF"/>
                </a:solidFill>
                <a:latin typeface="Aptos"/>
              </a:rPr>
              <a:t>Unauthorized </a:t>
            </a:r>
            <a:r>
              <a:rPr sz="1000" b="0" dirty="0">
                <a:solidFill>
                  <a:srgbClr val="FFFFFF"/>
                </a:solidFill>
                <a:latin typeface="Aptos"/>
              </a:rPr>
              <a:t>documents</a:t>
            </a:r>
            <a:r>
              <a:rPr sz="940" b="0" dirty="0">
                <a:solidFill>
                  <a:srgbClr val="FFFFFF"/>
                </a:solidFill>
                <a:latin typeface="Aptos"/>
              </a:rPr>
              <a:t> never enter the answer context.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450592"/>
            <a:ext cx="7498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D39125"/>
                </a:solidFill>
                <a:latin typeface="Aptos"/>
              </a:rPr>
              <a:t>INJECTION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1" y="2432304"/>
            <a:ext cx="3611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 dirty="0">
                <a:solidFill>
                  <a:srgbClr val="FFFFFF"/>
                </a:solidFill>
                <a:latin typeface="Aptos"/>
              </a:rPr>
              <a:t>Common </a:t>
            </a:r>
            <a:r>
              <a:rPr sz="1000" b="0" dirty="0">
                <a:solidFill>
                  <a:srgbClr val="FFFFFF"/>
                </a:solidFill>
                <a:latin typeface="Aptos"/>
              </a:rPr>
              <a:t>instruction-override</a:t>
            </a:r>
            <a:r>
              <a:rPr sz="940" b="0" dirty="0">
                <a:solidFill>
                  <a:srgbClr val="FFFFFF"/>
                </a:solidFill>
                <a:latin typeface="Aptos"/>
              </a:rPr>
              <a:t> patterns are blocked locally.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39" y="2871216"/>
            <a:ext cx="948322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007B5F"/>
                </a:solidFill>
                <a:latin typeface="Aptos"/>
              </a:rPr>
              <a:t>GROUNDING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1231" y="2871216"/>
            <a:ext cx="3611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  <a:latin typeface="Aptos"/>
              </a:rPr>
              <a:t>Retrieved text is treated as data, not executable instructions.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3657600"/>
            <a:ext cx="5120640" cy="2286000"/>
          </a:xfrm>
          <a:prstGeom prst="roundRect">
            <a:avLst/>
          </a:prstGeom>
          <a:solidFill>
            <a:srgbClr val="1C2328"/>
          </a:solidFill>
          <a:ln w="12700">
            <a:solidFill>
              <a:srgbClr val="34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20840" y="3931920"/>
            <a:ext cx="4297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B5F"/>
                </a:solidFill>
                <a:latin typeface="Aptos"/>
              </a:rPr>
              <a:t>ONE GROUNDED ANSWER → MANY BUSINESS FORMATS</a:t>
            </a:r>
          </a:p>
        </p:txBody>
      </p:sp>
      <p:sp>
        <p:nvSpPr>
          <p:cNvPr id="38" name="Oval 37"/>
          <p:cNvSpPr/>
          <p:nvPr/>
        </p:nvSpPr>
        <p:spPr>
          <a:xfrm>
            <a:off x="8412480" y="4407408"/>
            <a:ext cx="1051560" cy="1051560"/>
          </a:xfrm>
          <a:prstGeom prst="ellipse">
            <a:avLst/>
          </a:prstGeom>
          <a:solidFill>
            <a:srgbClr val="007B5F"/>
          </a:solidFill>
          <a:ln>
            <a:solidFill>
              <a:srgbClr val="007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4812423"/>
            <a:ext cx="10515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12280" y="4416552"/>
            <a:ext cx="1143000" cy="438912"/>
          </a:xfrm>
          <a:prstGeom prst="roundRect">
            <a:avLst/>
          </a:prstGeom>
          <a:solidFill>
            <a:srgbClr val="262E33"/>
          </a:solidFill>
          <a:ln w="12700">
            <a:solidFill>
              <a:srgbClr val="414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12280" y="4535424"/>
            <a:ext cx="11430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3F70A0"/>
                </a:solidFill>
                <a:latin typeface="Aptos"/>
              </a:rPr>
              <a:t>JSON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955279" y="4636008"/>
            <a:ext cx="457201" cy="256032"/>
          </a:xfrm>
          <a:prstGeom prst="line">
            <a:avLst/>
          </a:prstGeom>
          <a:ln w="12700">
            <a:solidFill>
              <a:srgbClr val="3F7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812280" y="5138928"/>
            <a:ext cx="1143000" cy="438912"/>
          </a:xfrm>
          <a:prstGeom prst="roundRect">
            <a:avLst/>
          </a:prstGeom>
          <a:solidFill>
            <a:srgbClr val="262E33"/>
          </a:solidFill>
          <a:ln w="12700">
            <a:solidFill>
              <a:srgbClr val="414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5257800"/>
            <a:ext cx="11430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007B5F"/>
                </a:solidFill>
                <a:latin typeface="Aptos"/>
              </a:rPr>
              <a:t>EXCEL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7955279" y="4892040"/>
            <a:ext cx="457201" cy="466344"/>
          </a:xfrm>
          <a:prstGeom prst="line">
            <a:avLst/>
          </a:prstGeom>
          <a:ln w="12700">
            <a:solidFill>
              <a:srgbClr val="007B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829800" y="4416552"/>
            <a:ext cx="1143000" cy="438912"/>
          </a:xfrm>
          <a:prstGeom prst="roundRect">
            <a:avLst/>
          </a:prstGeom>
          <a:solidFill>
            <a:srgbClr val="262E33"/>
          </a:solidFill>
          <a:ln w="12700">
            <a:solidFill>
              <a:srgbClr val="414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829800" y="4535424"/>
            <a:ext cx="11430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D39125"/>
                </a:solidFill>
                <a:latin typeface="Aptos"/>
              </a:rPr>
              <a:t>XML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9464040" y="4636008"/>
            <a:ext cx="365760" cy="256032"/>
          </a:xfrm>
          <a:prstGeom prst="line">
            <a:avLst/>
          </a:prstGeom>
          <a:ln w="12700">
            <a:solidFill>
              <a:srgbClr val="D3912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829800" y="5138928"/>
            <a:ext cx="1143000" cy="438912"/>
          </a:xfrm>
          <a:prstGeom prst="roundRect">
            <a:avLst/>
          </a:prstGeom>
          <a:solidFill>
            <a:srgbClr val="262E33"/>
          </a:solidFill>
          <a:ln w="12700">
            <a:solidFill>
              <a:srgbClr val="414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829800" y="5257800"/>
            <a:ext cx="11430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B03E3E"/>
                </a:solidFill>
                <a:latin typeface="Aptos"/>
              </a:rPr>
              <a:t>EMAIL</a:t>
            </a:r>
          </a:p>
        </p:txBody>
      </p:sp>
      <p:cxnSp>
        <p:nvCxnSpPr>
          <p:cNvPr id="51" name="Connector 50"/>
          <p:cNvCxnSpPr/>
          <p:nvPr/>
        </p:nvCxnSpPr>
        <p:spPr>
          <a:xfrm flipH="1" flipV="1">
            <a:off x="9464040" y="4892040"/>
            <a:ext cx="365760" cy="466344"/>
          </a:xfrm>
          <a:prstGeom prst="line">
            <a:avLst/>
          </a:prstGeom>
          <a:ln w="12700">
            <a:solidFill>
              <a:srgbClr val="B03E3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748272" y="5632704"/>
            <a:ext cx="4480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FFFFFF"/>
                </a:solidFill>
                <a:latin typeface="Aptos"/>
              </a:rPr>
              <a:t>Prototype validation: 4/4 security regression tests passed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743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7B5F"/>
                </a:solidFill>
                <a:latin typeface="Aptos"/>
              </a:rPr>
              <a:t>03  |  DEMO +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0698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C2226"/>
                </a:solidFill>
                <a:latin typeface="Aptos"/>
              </a:rPr>
              <a:t>A 90-second story: answer → follow-up → boundary →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644652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77076"/>
                </a:solidFill>
                <a:latin typeface="Aptos"/>
              </a:rPr>
              <a:t>4/4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2697480" cy="2331720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F6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" y="1627632"/>
            <a:ext cx="347472" cy="347472"/>
          </a:xfrm>
          <a:prstGeom prst="ellipse">
            <a:avLst/>
          </a:prstGeom>
          <a:solidFill>
            <a:srgbClr val="007B5F"/>
          </a:solidFill>
          <a:ln>
            <a:solidFill>
              <a:srgbClr val="007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719072"/>
            <a:ext cx="34747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682496"/>
            <a:ext cx="15087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007B5F"/>
                </a:solidFill>
                <a:latin typeface="Aptos"/>
              </a:rPr>
              <a:t>EMPLOYEE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103120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dirty="0">
                <a:solidFill>
                  <a:srgbClr val="1C2226"/>
                </a:solidFill>
                <a:latin typeface="Aptos"/>
              </a:rPr>
              <a:t>“What is the hotel
reimbursement limit?”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044952"/>
            <a:ext cx="2240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677076"/>
                </a:solidFill>
                <a:latin typeface="Aptos"/>
              </a:rPr>
              <a:t>Grounded answer +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2424" y="1417320"/>
            <a:ext cx="2697480" cy="2331720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F6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304" y="1627632"/>
            <a:ext cx="347472" cy="347472"/>
          </a:xfrm>
          <a:prstGeom prst="ellipse">
            <a:avLst/>
          </a:prstGeom>
          <a:solidFill>
            <a:srgbClr val="3F70A0"/>
          </a:solidFill>
          <a:ln>
            <a:solidFill>
              <a:srgbClr val="3F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75304" y="1719072"/>
            <a:ext cx="34747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1" y="1682496"/>
            <a:ext cx="15087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F70A0"/>
                </a:solidFill>
                <a:latin typeface="Aptos"/>
              </a:rPr>
              <a:t>FOLLOW-UP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103120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dirty="0">
                <a:solidFill>
                  <a:srgbClr val="1C2226"/>
                </a:solidFill>
                <a:latin typeface="Aptos"/>
              </a:rPr>
              <a:t>“What about meals?”
“Receipts?”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3044952"/>
            <a:ext cx="2240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77076"/>
                </a:solidFill>
                <a:latin typeface="Aptos"/>
              </a:rPr>
              <a:t>Conversation context retained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417320"/>
            <a:ext cx="2697480" cy="2331720"/>
          </a:xfrm>
          <a:prstGeom prst="roundRect">
            <a:avLst/>
          </a:prstGeom>
          <a:solidFill>
            <a:srgbClr val="FAECEC"/>
          </a:solidFill>
          <a:ln w="12700">
            <a:solidFill>
              <a:srgbClr val="FA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37376" y="1627632"/>
            <a:ext cx="347472" cy="347472"/>
          </a:xfrm>
          <a:prstGeom prst="ellipse">
            <a:avLst/>
          </a:prstGeom>
          <a:solidFill>
            <a:srgbClr val="B03E3E"/>
          </a:solidFill>
          <a:ln>
            <a:solidFill>
              <a:srgbClr val="B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7376" y="1719072"/>
            <a:ext cx="34747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864" y="1682496"/>
            <a:ext cx="15087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B03E3E"/>
                </a:solidFill>
                <a:latin typeface="Aptos"/>
              </a:rPr>
              <a:t>CUSTOMER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103120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dirty="0">
                <a:solidFill>
                  <a:srgbClr val="1C2226"/>
                </a:solidFill>
                <a:latin typeface="Aptos"/>
              </a:rPr>
              <a:t>“How many annual
leave days?”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044952"/>
            <a:ext cx="2240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77076"/>
                </a:solidFill>
                <a:latin typeface="Aptos"/>
              </a:rPr>
              <a:t>Employee-only info refused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16567" y="1417320"/>
            <a:ext cx="2697480" cy="2331720"/>
          </a:xfrm>
          <a:prstGeom prst="roundRect">
            <a:avLst/>
          </a:prstGeom>
          <a:solidFill>
            <a:srgbClr val="F6F8F8"/>
          </a:solidFill>
          <a:ln w="12700">
            <a:solidFill>
              <a:srgbClr val="F6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99447" y="1627632"/>
            <a:ext cx="347472" cy="347472"/>
          </a:xfrm>
          <a:prstGeom prst="ellipse">
            <a:avLst/>
          </a:prstGeom>
          <a:solidFill>
            <a:srgbClr val="D39125"/>
          </a:solidFill>
          <a:ln>
            <a:solidFill>
              <a:srgbClr val="D391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99447" y="1719072"/>
            <a:ext cx="34747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4936" y="1682496"/>
            <a:ext cx="15087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D39125"/>
                </a:solidFill>
                <a:latin typeface="Aptos"/>
              </a:rPr>
              <a:t>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7736" y="2103120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dirty="0">
                <a:solidFill>
                  <a:srgbClr val="1C2226"/>
                </a:solidFill>
                <a:latin typeface="Aptos"/>
              </a:rPr>
              <a:t>“Ignore previous
instructions…”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3044952"/>
            <a:ext cx="2240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77076"/>
                </a:solidFill>
                <a:latin typeface="Aptos"/>
              </a:rPr>
              <a:t>Injection blocked locally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133087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7B5F"/>
                </a:solidFill>
                <a:latin typeface="Aptos"/>
              </a:rPr>
              <a:t>OUTPUT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462272"/>
            <a:ext cx="2084831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4645152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1C2226"/>
                </a:solidFill>
                <a:latin typeface="Aptos"/>
              </a:rPr>
              <a:t>Natural language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937760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77076"/>
                </a:solidFill>
                <a:latin typeface="Aptos"/>
              </a:rPr>
              <a:t>Human answer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34640" y="4462272"/>
            <a:ext cx="2084831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53512" y="4645152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F70A0"/>
                </a:solidFill>
                <a:latin typeface="Aptos"/>
              </a:rPr>
              <a:t>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53512" y="4937760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77076"/>
                </a:solidFill>
                <a:latin typeface="Aptos"/>
              </a:rPr>
              <a:t>Machine-readable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02352" y="4462272"/>
            <a:ext cx="2084831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21224" y="4645152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7B5F"/>
                </a:solidFill>
                <a:latin typeface="Aptos"/>
              </a:rPr>
              <a:t>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21224" y="4937760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77076"/>
                </a:solidFill>
                <a:latin typeface="Aptos"/>
              </a:rPr>
              <a:t>Downloadable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70064" y="4462272"/>
            <a:ext cx="2084831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88936" y="4645152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D39125"/>
                </a:solidFill>
                <a:latin typeface="Aptos"/>
              </a:rPr>
              <a:t>XML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88936" y="4937760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77076"/>
                </a:solidFill>
                <a:latin typeface="Aptos"/>
              </a:rPr>
              <a:t>Integration-ready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37776" y="4462272"/>
            <a:ext cx="2084831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56648" y="4645152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B03E3E"/>
                </a:solidFill>
                <a:latin typeface="Aptos"/>
              </a:rPr>
              <a:t>Email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56648" y="4937760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77076"/>
                </a:solidFill>
                <a:latin typeface="Aptos"/>
              </a:rPr>
              <a:t>Ready to send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559552"/>
            <a:ext cx="10972800" cy="658368"/>
          </a:xfrm>
          <a:prstGeom prst="roundRect">
            <a:avLst/>
          </a:prstGeom>
          <a:solidFill>
            <a:srgbClr val="12181C"/>
          </a:solidFill>
          <a:ln w="12700">
            <a:solidFill>
              <a:srgbClr val="121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4672" y="5705856"/>
            <a:ext cx="125272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07B5F"/>
                </a:solidFill>
                <a:latin typeface="Aptos"/>
              </a:rPr>
              <a:t>BUSINESS</a:t>
            </a:r>
            <a:r>
              <a:rPr sz="850" b="1" dirty="0">
                <a:solidFill>
                  <a:srgbClr val="007B5F"/>
                </a:solidFill>
                <a:latin typeface="Aptos"/>
              </a:rPr>
              <a:t> </a:t>
            </a:r>
            <a:r>
              <a:rPr sz="1050" b="1" dirty="0">
                <a:solidFill>
                  <a:srgbClr val="007B5F"/>
                </a:solidFill>
                <a:latin typeface="Aptos"/>
              </a:rPr>
              <a:t>VALUE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49116" y="5705856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FFFFFF"/>
                </a:solidFill>
                <a:latin typeface="Aptos"/>
              </a:rPr>
              <a:t>Faster knowledge access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8604" y="5705856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FFFFFF"/>
                </a:solidFill>
                <a:latin typeface="Aptos"/>
              </a:rPr>
              <a:t>Traceable answers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44694" y="5705856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FFFFFF"/>
                </a:solidFill>
                <a:latin typeface="Aptos"/>
              </a:rPr>
              <a:t>Least-privilege retrieval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05088" y="5705856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Reusable outputs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69880" y="5705856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007B5F"/>
                </a:solidFill>
                <a:latin typeface="Aptos"/>
              </a:rPr>
              <a:t>4/4 tests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6336792"/>
            <a:ext cx="98755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 dirty="0">
                <a:solidFill>
                  <a:srgbClr val="677076"/>
                </a:solidFill>
                <a:latin typeface="Aptos"/>
              </a:rPr>
              <a:t>Synthetic enterprise knowledge base • Prototype designed for extension to enterprise identity and approved data </a:t>
            </a:r>
            <a:r>
              <a:rPr sz="1050" b="0" dirty="0">
                <a:solidFill>
                  <a:srgbClr val="677076"/>
                </a:solidFill>
                <a:latin typeface="Aptos"/>
              </a:rPr>
              <a:t>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399</Words>
  <Application>Microsoft Office PowerPoint</Application>
  <PresentationFormat>Widescreen</PresentationFormat>
  <Paragraphs>136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Piyusha</dc:creator>
  <cp:keywords/>
  <dc:description>generated using python-pptx</dc:description>
  <cp:lastModifiedBy>Piyusha Patil</cp:lastModifiedBy>
  <cp:revision>2</cp:revision>
  <dcterms:created xsi:type="dcterms:W3CDTF">2013-01-27T09:14:16Z</dcterms:created>
  <dcterms:modified xsi:type="dcterms:W3CDTF">2026-09-20T10:11:23Z</dcterms:modified>
  <cp:category/>
</cp:coreProperties>
</file>